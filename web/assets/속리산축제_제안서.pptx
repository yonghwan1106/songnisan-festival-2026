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2026 속리산축제</a:t>
            </a:r>
            <a:br/>
            <a:r>
              <a:t>콘텐츠 공모전 제안서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FFFFFF"/>
                </a:solidFill>
              </a:defRPr>
            </a:pPr>
            <a:r>
              <a:t>기후 위기 시대, 신화와 자연의 재해석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t>2026 속리산축제 콘텐츠 공모전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12121"/>
                </a:solidFill>
              </a:defRPr>
            </a:pPr>
            <a:r>
              <a:t>Executive Summary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188720"/>
          <a:ext cx="822960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구분</a:t>
                      </a:r>
                    </a:p>
                  </a:txBody>
                  <a:tcPr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여름 축제</a:t>
                      </a:r>
                    </a:p>
                  </a:txBody>
                  <a:tcPr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겨울 축제</a:t>
                      </a:r>
                    </a:p>
                  </a:txBody>
                  <a:tcPr>
                    <a:solidFill>
                      <a:srgbClr val="2E7D3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12121"/>
                          </a:solidFill>
                        </a:defRPr>
                      </a:pPr>
                      <a:r>
                        <a:t>축제명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12121"/>
                          </a:solidFill>
                        </a:defRPr>
                      </a:pPr>
                      <a:r>
                        <a:t>속리산 야행: 도깨비와 걷는 숲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12121"/>
                          </a:solidFill>
                        </a:defRPr>
                      </a:pPr>
                      <a:r>
                        <a:t>속리산 겨울연화: 빛으로 피어나는 산사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12121"/>
                          </a:solidFill>
                        </a:defRPr>
                      </a:pPr>
                      <a:r>
                        <a:t>시기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12121"/>
                          </a:solidFill>
                        </a:defRPr>
                      </a:pPr>
                      <a:r>
                        <a:t>2026년 6월 27일 ~ 7월 12일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12121"/>
                          </a:solidFill>
                        </a:defRPr>
                      </a:pPr>
                      <a:r>
                        <a:t>2026년 12월 19일 ~ 2027년 1월 3일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12121"/>
                          </a:solidFill>
                        </a:defRPr>
                      </a:pPr>
                      <a:r>
                        <a:t>핵심 콘텐츠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12121"/>
                          </a:solidFill>
                        </a:defRPr>
                      </a:pPr>
                      <a:r>
                        <a:t>호러 트레킹, 워터밤, 에코 피크닉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12121"/>
                          </a:solidFill>
                        </a:defRPr>
                      </a:pPr>
                      <a:r>
                        <a:t>법주사 미디어아트, 소원등 트레킹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12121"/>
                          </a:solidFill>
                        </a:defRPr>
                      </a:pPr>
                      <a:r>
                        <a:t>타겟층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12121"/>
                          </a:solidFill>
                        </a:defRPr>
                      </a:pPr>
                      <a:r>
                        <a:t>MZ세대, 가족 단위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12121"/>
                          </a:solidFill>
                        </a:defRPr>
                      </a:pPr>
                      <a:r>
                        <a:t>가족, 연인, 중장년 힐링족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12121"/>
                          </a:solidFill>
                        </a:defRPr>
                      </a:pPr>
                      <a:r>
                        <a:t>예상 방문객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12121"/>
                          </a:solidFill>
                        </a:defRPr>
                      </a:pPr>
                      <a:r>
                        <a:t>8만명 (일 5,000명)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12121"/>
                          </a:solidFill>
                        </a:defRPr>
                      </a:pPr>
                      <a:r>
                        <a:t>6.4만명 (일 4,000명)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12121"/>
                          </a:solidFill>
                        </a:defRPr>
                      </a:pPr>
                      <a:r>
                        <a:t>예산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12121"/>
                          </a:solidFill>
                        </a:defRPr>
                      </a:pPr>
                      <a:r>
                        <a:t>8억 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12121"/>
                          </a:solidFill>
                        </a:defRPr>
                      </a:pPr>
                      <a:r>
                        <a:t>10억 원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12121"/>
                </a:solidFill>
              </a:defRPr>
            </a:pPr>
            <a:r>
              <a:t>왜 여름·겨울 축제가 필요한가?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212121"/>
                </a:solidFill>
              </a:defRPr>
            </a:pPr>
            <a:r>
              <a:t>현재 보은군 관광의 문제점</a:t>
            </a:r>
          </a:p>
          <a:p>
            <a:pPr>
              <a:spcAft>
                <a:spcPts val="1200"/>
              </a:spcAft>
              <a:defRPr sz="1800">
                <a:solidFill>
                  <a:srgbClr val="212121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212121"/>
                </a:solidFill>
              </a:defRPr>
            </a:pPr>
            <a:r>
              <a:t>  - 봄(신화여행축제), 가을(대추축제)에 편중</a:t>
            </a:r>
          </a:p>
          <a:p>
            <a:pPr>
              <a:spcAft>
                <a:spcPts val="1200"/>
              </a:spcAft>
              <a:defRPr sz="1800">
                <a:solidFill>
                  <a:srgbClr val="212121"/>
                </a:solidFill>
              </a:defRPr>
            </a:pPr>
            <a:r>
              <a:t>  - 여름·겨울 비수기 → 지역 상권 매출 절벽</a:t>
            </a:r>
          </a:p>
          <a:p>
            <a:pPr>
              <a:spcAft>
                <a:spcPts val="1200"/>
              </a:spcAft>
              <a:defRPr sz="1800">
                <a:solidFill>
                  <a:srgbClr val="212121"/>
                </a:solidFill>
              </a:defRPr>
            </a:pPr>
            <a:r>
              <a:t>  - 기후 변화로 전통 겨울 축제(얼음낚시) 위협</a:t>
            </a:r>
          </a:p>
          <a:p>
            <a:pPr>
              <a:spcAft>
                <a:spcPts val="1200"/>
              </a:spcAft>
              <a:defRPr sz="1800">
                <a:solidFill>
                  <a:srgbClr val="212121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212121"/>
                </a:solidFill>
              </a:defRPr>
            </a:pPr>
            <a:r>
              <a:t>해결책: 계절성(Seasonality) 극복</a:t>
            </a:r>
          </a:p>
          <a:p>
            <a:pPr>
              <a:spcAft>
                <a:spcPts val="1200"/>
              </a:spcAft>
              <a:defRPr sz="1800">
                <a:solidFill>
                  <a:srgbClr val="212121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212121"/>
                </a:solidFill>
              </a:defRPr>
            </a:pPr>
            <a:r>
              <a:t>  - 여름: 자연의 냉기 + 심리적 냉기(공포) = Cool &amp; Horror</a:t>
            </a:r>
          </a:p>
          <a:p>
            <a:pPr>
              <a:spcAft>
                <a:spcPts val="1200"/>
              </a:spcAft>
              <a:defRPr sz="1800">
                <a:solidFill>
                  <a:srgbClr val="212121"/>
                </a:solidFill>
              </a:defRPr>
            </a:pPr>
            <a:r>
              <a:t>  - 겨울: 빛과 문화유산 = 기후 독립형 콘텐츠</a:t>
            </a:r>
          </a:p>
          <a:p>
            <a:pPr>
              <a:spcAft>
                <a:spcPts val="1200"/>
              </a:spcAft>
              <a:defRPr sz="1800">
                <a:solidFill>
                  <a:srgbClr val="212121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212121"/>
                </a:solidFill>
              </a:defRPr>
            </a:pPr>
            <a:r>
              <a:t>목표: 사계절 365일 체류형 관광 허브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12121"/>
                </a:solidFill>
              </a:defRPr>
            </a:pPr>
            <a:r>
              <a:t>여름 축제: 속리산 야행(夜行)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212121"/>
                </a:solidFill>
              </a:defRPr>
            </a:pPr>
            <a:r>
              <a:t>"천년의 숲, 깨어나지 말아야 할 것이 깨어났다"</a:t>
            </a:r>
          </a:p>
          <a:p>
            <a:pPr>
              <a:spcAft>
                <a:spcPts val="1200"/>
              </a:spcAft>
              <a:defRPr sz="1800">
                <a:solidFill>
                  <a:srgbClr val="212121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212121"/>
                </a:solidFill>
              </a:defRPr>
            </a:pPr>
            <a:r>
              <a:t>축제 개요</a:t>
            </a:r>
          </a:p>
          <a:p>
            <a:pPr>
              <a:spcAft>
                <a:spcPts val="1200"/>
              </a:spcAft>
              <a:defRPr sz="1800">
                <a:solidFill>
                  <a:srgbClr val="212121"/>
                </a:solidFill>
              </a:defRPr>
            </a:pPr>
            <a:r>
              <a:t>  - 명칭: 2026 속리산 쿨(Cool) &amp; 칠(Chill) 페스티벌</a:t>
            </a:r>
          </a:p>
          <a:p>
            <a:pPr>
              <a:spcAft>
                <a:spcPts val="1200"/>
              </a:spcAft>
              <a:defRPr sz="1800">
                <a:solidFill>
                  <a:srgbClr val="212121"/>
                </a:solidFill>
              </a:defRPr>
            </a:pPr>
            <a:r>
              <a:t>  - 기간: 2026년 6월 27일(토) ~ 7월 12일(일), 16일간</a:t>
            </a:r>
          </a:p>
          <a:p>
            <a:pPr>
              <a:spcAft>
                <a:spcPts val="1200"/>
              </a:spcAft>
              <a:defRPr sz="1800">
                <a:solidFill>
                  <a:srgbClr val="212121"/>
                </a:solidFill>
              </a:defRPr>
            </a:pPr>
            <a:r>
              <a:t>  - 장소: 오리숲, 세조길, 속리산 잔디광장</a:t>
            </a:r>
          </a:p>
          <a:p>
            <a:pPr>
              <a:spcAft>
                <a:spcPts val="1200"/>
              </a:spcAft>
              <a:defRPr sz="1800">
                <a:solidFill>
                  <a:srgbClr val="212121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212121"/>
                </a:solidFill>
              </a:defRPr>
            </a:pPr>
            <a:r>
              <a:t>핵심 가치</a:t>
            </a:r>
          </a:p>
          <a:p>
            <a:pPr>
              <a:spcAft>
                <a:spcPts val="1200"/>
              </a:spcAft>
              <a:defRPr sz="1800">
                <a:solidFill>
                  <a:srgbClr val="212121"/>
                </a:solidFill>
              </a:defRPr>
            </a:pPr>
            <a:r>
              <a:t>  - 야간 관광 활성화</a:t>
            </a:r>
          </a:p>
          <a:p>
            <a:pPr>
              <a:spcAft>
                <a:spcPts val="1200"/>
              </a:spcAft>
              <a:defRPr sz="1800">
                <a:solidFill>
                  <a:srgbClr val="212121"/>
                </a:solidFill>
              </a:defRPr>
            </a:pPr>
            <a:r>
              <a:t>  - MZ세대 청년 유입</a:t>
            </a:r>
          </a:p>
          <a:p>
            <a:pPr>
              <a:spcAft>
                <a:spcPts val="1200"/>
              </a:spcAft>
              <a:defRPr sz="1800">
                <a:solidFill>
                  <a:srgbClr val="212121"/>
                </a:solidFill>
              </a:defRPr>
            </a:pPr>
            <a:r>
              <a:t>  - 친환경 축제 (Zero Waste)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12121"/>
                </a:solidFill>
              </a:defRPr>
            </a:pPr>
            <a:r>
              <a:t>여름 축제 킬러 콘텐츠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212121"/>
                </a:solidFill>
              </a:defRPr>
            </a:pPr>
            <a:r>
              <a:t>1. 오리숲 호러 트레킹 '도깨비의 금기'</a:t>
            </a:r>
          </a:p>
          <a:p>
            <a:pPr>
              <a:spcAft>
                <a:spcPts val="1200"/>
              </a:spcAft>
              <a:defRPr sz="1800">
                <a:solidFill>
                  <a:srgbClr val="212121"/>
                </a:solidFill>
              </a:defRPr>
            </a:pPr>
            <a:r>
              <a:t>   - 국내 유일 국립공원 야간 호러 체험</a:t>
            </a:r>
          </a:p>
          <a:p>
            <a:pPr>
              <a:spcAft>
                <a:spcPts val="1200"/>
              </a:spcAft>
              <a:defRPr sz="1800">
                <a:solidFill>
                  <a:srgbClr val="212121"/>
                </a:solidFill>
              </a:defRPr>
            </a:pPr>
            <a:r>
              <a:t>   - 도깨비 설화 기반 인터랙티브 미션</a:t>
            </a:r>
          </a:p>
          <a:p>
            <a:pPr>
              <a:spcAft>
                <a:spcPts val="1200"/>
              </a:spcAft>
              <a:defRPr sz="1800">
                <a:solidFill>
                  <a:srgbClr val="212121"/>
                </a:solidFill>
              </a:defRPr>
            </a:pPr>
            <a:r>
              <a:t>   - 5개의 봉인 부적을 찾아 도깨비를 봉인하라!</a:t>
            </a:r>
          </a:p>
          <a:p>
            <a:pPr>
              <a:spcAft>
                <a:spcPts val="1200"/>
              </a:spcAft>
              <a:defRPr sz="1800">
                <a:solidFill>
                  <a:srgbClr val="212121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212121"/>
                </a:solidFill>
              </a:defRPr>
            </a:pPr>
            <a:r>
              <a:t>2. 속리산 워터밤 '대추나무 물총 전쟁'</a:t>
            </a:r>
          </a:p>
          <a:p>
            <a:pPr>
              <a:spcAft>
                <a:spcPts val="1200"/>
              </a:spcAft>
              <a:defRPr sz="1800">
                <a:solidFill>
                  <a:srgbClr val="212121"/>
                </a:solidFill>
              </a:defRPr>
            </a:pPr>
            <a:r>
              <a:t>   - 대추 수호대 vs 도깨비 군단 물총 대결</a:t>
            </a:r>
          </a:p>
          <a:p>
            <a:pPr>
              <a:spcAft>
                <a:spcPts val="1200"/>
              </a:spcAft>
              <a:defRPr sz="1800">
                <a:solidFill>
                  <a:srgbClr val="212121"/>
                </a:solidFill>
              </a:defRPr>
            </a:pPr>
            <a:r>
              <a:t>   - 쿨링 포그 &amp; 인공 강우 존 운영</a:t>
            </a:r>
          </a:p>
          <a:p>
            <a:pPr>
              <a:spcAft>
                <a:spcPts val="1200"/>
              </a:spcAft>
              <a:defRPr sz="1800">
                <a:solidFill>
                  <a:srgbClr val="212121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212121"/>
                </a:solidFill>
              </a:defRPr>
            </a:pPr>
            <a:r>
              <a:t>3. 계곡 에코 피크닉 '신선놀음'</a:t>
            </a:r>
          </a:p>
          <a:p>
            <a:pPr>
              <a:spcAft>
                <a:spcPts val="1200"/>
              </a:spcAft>
              <a:defRPr sz="1800">
                <a:solidFill>
                  <a:srgbClr val="212121"/>
                </a:solidFill>
              </a:defRPr>
            </a:pPr>
            <a:r>
              <a:t>   - 프라이빗 피크닉 존 예약제</a:t>
            </a:r>
          </a:p>
          <a:p>
            <a:pPr>
              <a:spcAft>
                <a:spcPts val="1200"/>
              </a:spcAft>
              <a:defRPr sz="1800">
                <a:solidFill>
                  <a:srgbClr val="212121"/>
                </a:solidFill>
              </a:defRPr>
            </a:pPr>
            <a:r>
              <a:t>   - 보은 대추 도시락 + 어쿠스틱 버스킹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12121"/>
                </a:solidFill>
              </a:defRPr>
            </a:pPr>
            <a:r>
              <a:t>겨울 축제: 속리산 겨울연화(蓮花)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212121"/>
                </a:solidFill>
              </a:defRPr>
            </a:pPr>
            <a:r>
              <a:t>"천년의 빛, 당신의 소원을 비추다"</a:t>
            </a:r>
          </a:p>
          <a:p>
            <a:pPr>
              <a:spcAft>
                <a:spcPts val="1200"/>
              </a:spcAft>
              <a:defRPr sz="1800">
                <a:solidFill>
                  <a:srgbClr val="212121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212121"/>
                </a:solidFill>
              </a:defRPr>
            </a:pPr>
            <a:r>
              <a:t>축제 개요</a:t>
            </a:r>
          </a:p>
          <a:p>
            <a:pPr>
              <a:spcAft>
                <a:spcPts val="1200"/>
              </a:spcAft>
              <a:defRPr sz="1800">
                <a:solidFill>
                  <a:srgbClr val="212121"/>
                </a:solidFill>
              </a:defRPr>
            </a:pPr>
            <a:r>
              <a:t>  - 명칭: 2026 속리산 겨울 소원 축제: 빛의 숲, 세조의 길</a:t>
            </a:r>
          </a:p>
          <a:p>
            <a:pPr>
              <a:spcAft>
                <a:spcPts val="1200"/>
              </a:spcAft>
              <a:defRPr sz="1800">
                <a:solidFill>
                  <a:srgbClr val="212121"/>
                </a:solidFill>
              </a:defRPr>
            </a:pPr>
            <a:r>
              <a:t>  - 기간: 2026년 12월 19일(토) ~ 2027년 1월 3일(토), 16일간</a:t>
            </a:r>
          </a:p>
          <a:p>
            <a:pPr>
              <a:spcAft>
                <a:spcPts val="1200"/>
              </a:spcAft>
              <a:defRPr sz="1800">
                <a:solidFill>
                  <a:srgbClr val="212121"/>
                </a:solidFill>
              </a:defRPr>
            </a:pPr>
            <a:r>
              <a:t>  - 장소: 법주사, 세조길, 오리숲</a:t>
            </a:r>
          </a:p>
          <a:p>
            <a:pPr>
              <a:spcAft>
                <a:spcPts val="1200"/>
              </a:spcAft>
              <a:defRPr sz="1800">
                <a:solidFill>
                  <a:srgbClr val="212121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212121"/>
                </a:solidFill>
              </a:defRPr>
            </a:pPr>
            <a:r>
              <a:t>핵심 가치</a:t>
            </a:r>
          </a:p>
          <a:p>
            <a:pPr>
              <a:spcAft>
                <a:spcPts val="1200"/>
              </a:spcAft>
              <a:defRPr sz="1800">
                <a:solidFill>
                  <a:srgbClr val="212121"/>
                </a:solidFill>
              </a:defRPr>
            </a:pPr>
            <a:r>
              <a:t>  - 치유(Healing) - 세조의 치유 스토리</a:t>
            </a:r>
          </a:p>
          <a:p>
            <a:pPr>
              <a:spcAft>
                <a:spcPts val="1200"/>
              </a:spcAft>
              <a:defRPr sz="1800">
                <a:solidFill>
                  <a:srgbClr val="212121"/>
                </a:solidFill>
              </a:defRPr>
            </a:pPr>
            <a:r>
              <a:t>  - 소원(Wish) - 새해 소원 빌기</a:t>
            </a:r>
          </a:p>
          <a:p>
            <a:pPr>
              <a:spcAft>
                <a:spcPts val="1200"/>
              </a:spcAft>
              <a:defRPr sz="1800">
                <a:solidFill>
                  <a:srgbClr val="212121"/>
                </a:solidFill>
              </a:defRPr>
            </a:pPr>
            <a:r>
              <a:t>  - 미디어아트(Tech) - 문화유산의 현대적 재해석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12121"/>
                </a:solidFill>
              </a:defRPr>
            </a:pPr>
            <a:r>
              <a:t>겨울 축제 킬러 콘텐츠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212121"/>
                </a:solidFill>
              </a:defRPr>
            </a:pPr>
            <a:r>
              <a:t>1. 법주사 팔상전 미디어아트 '미륵의 빛'</a:t>
            </a:r>
          </a:p>
          <a:p>
            <a:pPr>
              <a:spcAft>
                <a:spcPts val="1200"/>
              </a:spcAft>
              <a:defRPr sz="1800">
                <a:solidFill>
                  <a:srgbClr val="212121"/>
                </a:solidFill>
              </a:defRPr>
            </a:pPr>
            <a:r>
              <a:t>   - 국보 제55호 목탑에 프로젝션 매핑</a:t>
            </a:r>
          </a:p>
          <a:p>
            <a:pPr>
              <a:spcAft>
                <a:spcPts val="1200"/>
              </a:spcAft>
              <a:defRPr sz="1800">
                <a:solidFill>
                  <a:srgbClr val="212121"/>
                </a:solidFill>
              </a:defRPr>
            </a:pPr>
            <a:r>
              <a:t>   - 1막: 속리산의 사계 / 2막: 미륵의 하생 / 3막: 천년의 소원</a:t>
            </a:r>
          </a:p>
          <a:p>
            <a:pPr>
              <a:spcAft>
                <a:spcPts val="1200"/>
              </a:spcAft>
              <a:defRPr sz="1800">
                <a:solidFill>
                  <a:srgbClr val="212121"/>
                </a:solidFill>
              </a:defRPr>
            </a:pPr>
            <a:r>
              <a:t>   - AR로 관람객 소원 메시지 투영</a:t>
            </a:r>
          </a:p>
          <a:p>
            <a:pPr>
              <a:spcAft>
                <a:spcPts val="1200"/>
              </a:spcAft>
              <a:defRPr sz="1800">
                <a:solidFill>
                  <a:srgbClr val="212121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212121"/>
                </a:solidFill>
              </a:defRPr>
            </a:pPr>
            <a:r>
              <a:t>2. 세조길 소원등 트레킹 '왕의 산책'</a:t>
            </a:r>
          </a:p>
          <a:p>
            <a:pPr>
              <a:spcAft>
                <a:spcPts val="1200"/>
              </a:spcAft>
              <a:defRPr sz="1800">
                <a:solidFill>
                  <a:srgbClr val="212121"/>
                </a:solidFill>
              </a:defRPr>
            </a:pPr>
            <a:r>
              <a:t>   - 수천 개의 전통 등으로 빛의 터널 조성</a:t>
            </a:r>
          </a:p>
          <a:p>
            <a:pPr>
              <a:spcAft>
                <a:spcPts val="1200"/>
              </a:spcAft>
              <a:defRPr sz="1800">
                <a:solidFill>
                  <a:srgbClr val="212121"/>
                </a:solidFill>
              </a:defRPr>
            </a:pPr>
            <a:r>
              <a:t>   - 나만의 소원등 만들기 + 제등 행렬</a:t>
            </a:r>
          </a:p>
          <a:p>
            <a:pPr>
              <a:spcAft>
                <a:spcPts val="1200"/>
              </a:spcAft>
              <a:defRPr sz="1800">
                <a:solidFill>
                  <a:srgbClr val="212121"/>
                </a:solidFill>
              </a:defRPr>
            </a:pPr>
            <a:r>
              <a:t>   - 침묵의 묵언 트레킹 (명상 체험)</a:t>
            </a:r>
          </a:p>
          <a:p>
            <a:pPr>
              <a:spcAft>
                <a:spcPts val="1200"/>
              </a:spcAft>
              <a:defRPr sz="1800">
                <a:solidFill>
                  <a:srgbClr val="212121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212121"/>
                </a:solidFill>
              </a:defRPr>
            </a:pPr>
            <a:r>
              <a:t>3. 보은 윈터 푸드존</a:t>
            </a:r>
          </a:p>
          <a:p>
            <a:pPr>
              <a:spcAft>
                <a:spcPts val="1200"/>
              </a:spcAft>
              <a:defRPr sz="1800">
                <a:solidFill>
                  <a:srgbClr val="212121"/>
                </a:solidFill>
              </a:defRPr>
            </a:pPr>
            <a:r>
              <a:t>   - 대추 라떼, 대추 찐빵, 도깨비 팥죽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12121"/>
                </a:solidFill>
              </a:defRPr>
            </a:pPr>
            <a:r>
              <a:t>타 축제와의 차별화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188720"/>
          <a:ext cx="822960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비교 항목</a:t>
                      </a:r>
                    </a:p>
                  </a:txBody>
                  <a:tcPr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속리산 축제</a:t>
                      </a:r>
                    </a:p>
                  </a:txBody>
                  <a:tcPr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합천 고스트파크</a:t>
                      </a:r>
                    </a:p>
                  </a:txBody>
                  <a:tcPr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화천 산천어축제</a:t>
                      </a:r>
                    </a:p>
                  </a:txBody>
                  <a:tcPr>
                    <a:solidFill>
                      <a:srgbClr val="2E7D3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12121"/>
                          </a:solidFill>
                        </a:defRPr>
                      </a:pPr>
                      <a:r>
                        <a:t>공간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12121"/>
                          </a:solidFill>
                        </a:defRPr>
                      </a:pPr>
                      <a:r>
                        <a:t>실제 국립공원 숲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12121"/>
                          </a:solidFill>
                        </a:defRPr>
                      </a:pPr>
                      <a:r>
                        <a:t>영화 세트장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12121"/>
                          </a:solidFill>
                        </a:defRPr>
                      </a:pPr>
                      <a:r>
                        <a:t>하천 빙판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12121"/>
                          </a:solidFill>
                        </a:defRPr>
                      </a:pPr>
                      <a:r>
                        <a:t>기후 의존도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12121"/>
                          </a:solidFill>
                        </a:defRPr>
                      </a:pPr>
                      <a:r>
                        <a:t>낮음 (빛/스토리)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12121"/>
                          </a:solidFill>
                        </a:defRPr>
                      </a:pPr>
                      <a:r>
                        <a:t>낮음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12121"/>
                          </a:solidFill>
                        </a:defRPr>
                      </a:pPr>
                      <a:r>
                        <a:t>높음 (결빙 필수)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12121"/>
                          </a:solidFill>
                        </a:defRPr>
                      </a:pPr>
                      <a:r>
                        <a:t>스토리텔링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12121"/>
                          </a:solidFill>
                        </a:defRPr>
                      </a:pPr>
                      <a:r>
                        <a:t>도깨비/세조 설화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12121"/>
                          </a:solidFill>
                        </a:defRPr>
                      </a:pPr>
                      <a:r>
                        <a:t>영화 기반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12121"/>
                          </a:solidFill>
                        </a:defRPr>
                      </a:pPr>
                      <a:r>
                        <a:t>없음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12121"/>
                          </a:solidFill>
                        </a:defRPr>
                      </a:pPr>
                      <a:r>
                        <a:t>문화유산 연계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12121"/>
                          </a:solidFill>
                        </a:defRPr>
                      </a:pPr>
                      <a:r>
                        <a:t>유네스코 법주사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12121"/>
                          </a:solidFill>
                        </a:defRPr>
                      </a:pPr>
                      <a:r>
                        <a:t>없음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12121"/>
                          </a:solidFill>
                        </a:defRPr>
                      </a:pPr>
                      <a:r>
                        <a:t>없음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12121"/>
                          </a:solidFill>
                        </a:defRPr>
                      </a:pPr>
                      <a:r>
                        <a:t>MZ 타겟팅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12121"/>
                          </a:solidFill>
                        </a:defRPr>
                      </a:pPr>
                      <a:r>
                        <a:t>AR, SNS 챌린지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12121"/>
                          </a:solidFill>
                        </a:defRPr>
                      </a:pPr>
                      <a:r>
                        <a:t>공포 체험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12121"/>
                          </a:solidFill>
                        </a:defRPr>
                      </a:pPr>
                      <a:r>
                        <a:t>체험 위주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12121"/>
                </a:solidFill>
              </a:defRPr>
            </a:pPr>
            <a:r>
              <a:t>실현가능성: 예산 계획 (총 18억 원)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1188720"/>
            <a:ext cx="4114800" cy="5029200"/>
          </a:xfrm>
          <a:prstGeom prst="round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374903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여름 축제 (8억 원)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920240"/>
            <a:ext cx="3749039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인건비: 1.5억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  - 연기자, 안전요원, 진행요원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시설비: 2억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  - 조명, 음향, 워터밤 시설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콘텐츠 제작: 1.2억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  - 시나리오, 소품, AR 앱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홍보/마케팅: 1억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운영비: 0.8억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안전관리/예비비: 1.5억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0" y="1188720"/>
            <a:ext cx="4114800" cy="5029200"/>
          </a:xfrm>
          <a:prstGeom prst="round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937760" y="1371600"/>
            <a:ext cx="374903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겨울 축제 (10억 원)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37760" y="1920240"/>
            <a:ext cx="3749039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미디어아트 제작: 3억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  - 프로젝션 매핑 콘텐츠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조명/시설: 2.5억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  - 소원등, LED, 돔텐트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인건비: 1억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콘텐츠 제작: 0.8억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홍보/마케팅: 1억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운영/안전/예비비: 1.7억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12121"/>
                </a:solidFill>
              </a:defRPr>
            </a:pPr>
            <a:r>
              <a:t>추진 일정표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188720"/>
          <a:ext cx="822960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시기</a:t>
                      </a:r>
                    </a:p>
                  </a:txBody>
                  <a:tcPr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주요 일정</a:t>
                      </a:r>
                    </a:p>
                  </a:txBody>
                  <a:tcPr>
                    <a:solidFill>
                      <a:srgbClr val="2E7D3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12121"/>
                          </a:solidFill>
                        </a:defRPr>
                      </a:pPr>
                      <a:r>
                        <a:t>2025년 12월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12121"/>
                          </a:solidFill>
                        </a:defRPr>
                      </a:pPr>
                      <a:r>
                        <a:t>공모전 당선, 기획 착수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12121"/>
                          </a:solidFill>
                        </a:defRPr>
                      </a:pPr>
                      <a:r>
                        <a:t>2026년 1~2월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12121"/>
                          </a:solidFill>
                        </a:defRPr>
                      </a:pPr>
                      <a:r>
                        <a:t>국립공원공단, 문화재청 협의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12121"/>
                          </a:solidFill>
                        </a:defRPr>
                      </a:pPr>
                      <a:r>
                        <a:t>2026년 3~4월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12121"/>
                          </a:solidFill>
                        </a:defRPr>
                      </a:pPr>
                      <a:r>
                        <a:t>콘텐츠 상세 기획, 예산 확정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12121"/>
                          </a:solidFill>
                        </a:defRPr>
                      </a:pPr>
                      <a:r>
                        <a:t>2026년 5월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12121"/>
                          </a:solidFill>
                        </a:defRPr>
                      </a:pPr>
                      <a:r>
                        <a:t>시설 설치, 리허설, 홍보 시작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12121"/>
                          </a:solidFill>
                        </a:defRPr>
                      </a:pPr>
                      <a:r>
                        <a:t>2026년 6월 27일~7월 12일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12121"/>
                          </a:solidFill>
                        </a:defRPr>
                      </a:pPr>
                      <a:r>
                        <a:t>여름 축제 개최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12121"/>
                          </a:solidFill>
                        </a:defRPr>
                      </a:pPr>
                      <a:r>
                        <a:t>2026년 7~8월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12121"/>
                          </a:solidFill>
                        </a:defRPr>
                      </a:pPr>
                      <a:r>
                        <a:t>여름 평가, 겨울 준비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12121"/>
                          </a:solidFill>
                        </a:defRPr>
                      </a:pPr>
                      <a:r>
                        <a:t>2026년 9~11월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12121"/>
                          </a:solidFill>
                        </a:defRPr>
                      </a:pPr>
                      <a:r>
                        <a:t>미디어아트 제작, 조명 설치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12121"/>
                          </a:solidFill>
                        </a:defRPr>
                      </a:pPr>
                      <a:r>
                        <a:t>2026년 12월 19일~2027년 1월 3일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12121"/>
                          </a:solidFill>
                        </a:defRPr>
                      </a:pPr>
                      <a:r>
                        <a:t>겨울 축제 개최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12121"/>
                </a:solidFill>
              </a:defRPr>
            </a:pPr>
            <a:r>
              <a:t>타겟 고객 &amp; SNS 마케팅 전략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212121"/>
                </a:solidFill>
              </a:defRPr>
            </a:pPr>
            <a:r>
              <a:t>타겟 고객 세분화</a:t>
            </a:r>
          </a:p>
          <a:p>
            <a:pPr>
              <a:spcAft>
                <a:spcPts val="1200"/>
              </a:spcAft>
              <a:defRPr sz="1800">
                <a:solidFill>
                  <a:srgbClr val="212121"/>
                </a:solidFill>
              </a:defRPr>
            </a:pPr>
            <a:r>
              <a:t>  - MZ세대 호러매니아 (35%): 인스타그램, 틱톡, 유튜브</a:t>
            </a:r>
          </a:p>
          <a:p>
            <a:pPr>
              <a:spcAft>
                <a:spcPts val="1200"/>
              </a:spcAft>
              <a:defRPr sz="1800">
                <a:solidFill>
                  <a:srgbClr val="212121"/>
                </a:solidFill>
              </a:defRPr>
            </a:pPr>
            <a:r>
              <a:t>  - 가족 단위 (30%): 네이버 블로그, 맘카페</a:t>
            </a:r>
          </a:p>
          <a:p>
            <a:pPr>
              <a:spcAft>
                <a:spcPts val="1200"/>
              </a:spcAft>
              <a:defRPr sz="1800">
                <a:solidFill>
                  <a:srgbClr val="212121"/>
                </a:solidFill>
              </a:defRPr>
            </a:pPr>
            <a:r>
              <a:t>  - 연인/친구 그룹 (20%): 여행 플랫폼</a:t>
            </a:r>
          </a:p>
          <a:p>
            <a:pPr>
              <a:spcAft>
                <a:spcPts val="1200"/>
              </a:spcAft>
              <a:defRPr sz="1800">
                <a:solidFill>
                  <a:srgbClr val="212121"/>
                </a:solidFill>
              </a:defRPr>
            </a:pPr>
            <a:r>
              <a:t>  - 중장년 힐링족 (15%): TV, 라디오</a:t>
            </a:r>
          </a:p>
          <a:p>
            <a:pPr>
              <a:spcAft>
                <a:spcPts val="1200"/>
              </a:spcAft>
              <a:defRPr sz="1800">
                <a:solidFill>
                  <a:srgbClr val="212121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212121"/>
                </a:solidFill>
              </a:defRPr>
            </a:pPr>
            <a:r>
              <a:t>SNS 바이럴 전략</a:t>
            </a:r>
          </a:p>
          <a:p>
            <a:pPr>
              <a:spcAft>
                <a:spcPts val="1200"/>
              </a:spcAft>
              <a:defRPr sz="1800">
                <a:solidFill>
                  <a:srgbClr val="212121"/>
                </a:solidFill>
              </a:defRPr>
            </a:pPr>
            <a:r>
              <a:t>  - 해시태그: #속리산도깨비 #세조의길 #법주사빛축제</a:t>
            </a:r>
          </a:p>
          <a:p>
            <a:pPr>
              <a:spcAft>
                <a:spcPts val="1200"/>
              </a:spcAft>
              <a:defRPr sz="1800">
                <a:solidFill>
                  <a:srgbClr val="212121"/>
                </a:solidFill>
              </a:defRPr>
            </a:pPr>
            <a:r>
              <a:t>  - 인플루언서 협업: 공포 유튜버, 여행 인스타그래머</a:t>
            </a:r>
          </a:p>
          <a:p>
            <a:pPr>
              <a:spcAft>
                <a:spcPts val="1200"/>
              </a:spcAft>
              <a:defRPr sz="1800">
                <a:solidFill>
                  <a:srgbClr val="212121"/>
                </a:solidFill>
              </a:defRPr>
            </a:pPr>
            <a:r>
              <a:t>  - 틱톡 챌린지: #도깨비씨름챌린지</a:t>
            </a:r>
          </a:p>
          <a:p>
            <a:pPr>
              <a:spcAft>
                <a:spcPts val="1200"/>
              </a:spcAft>
              <a:defRPr sz="1800">
                <a:solidFill>
                  <a:srgbClr val="212121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212121"/>
                </a:solidFill>
              </a:defRPr>
            </a:pPr>
            <a:r>
              <a:t>인스타그래머블 포토존 4개소 설치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12121"/>
                </a:solidFill>
              </a:defRPr>
            </a:pPr>
            <a:r>
              <a:t>기대효과 &amp; 심사기준 대응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188720"/>
          <a:ext cx="822960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심사기준</a:t>
                      </a:r>
                    </a:p>
                  </a:txBody>
                  <a:tcPr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대응 내용</a:t>
                      </a:r>
                    </a:p>
                  </a:txBody>
                  <a:tcPr>
                    <a:solidFill>
                      <a:srgbClr val="2E7D3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12121"/>
                          </a:solidFill>
                        </a:defRPr>
                      </a:pPr>
                      <a:r>
                        <a:t>독창성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12121"/>
                          </a:solidFill>
                        </a:defRPr>
                      </a:pPr>
                      <a:r>
                        <a:t>국립공원 최초 호러 트레킹, 도깨비 IP, 유네스코 미디어아트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12121"/>
                          </a:solidFill>
                        </a:defRPr>
                      </a:pPr>
                      <a:r>
                        <a:t>실현가능성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12121"/>
                          </a:solidFill>
                        </a:defRPr>
                      </a:pPr>
                      <a:r>
                        <a:t>세부 예산 18억, 협력기관 명시, 구체적 일정표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12121"/>
                          </a:solidFill>
                        </a:defRPr>
                      </a:pPr>
                      <a:r>
                        <a:t>관광객 매력도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12121"/>
                          </a:solidFill>
                        </a:defRPr>
                      </a:pPr>
                      <a:r>
                        <a:t>타겟별 맞춤 콘텐츠, SNS 전략, 포토존 설계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3657600"/>
            <a:ext cx="8229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000">
                <a:solidFill>
                  <a:srgbClr val="212121"/>
                </a:solidFill>
              </a:defRPr>
            </a:pPr>
            <a:r>
              <a:t>예상 경제효과</a:t>
            </a:r>
          </a:p>
          <a:p>
            <a:pPr>
              <a:defRPr sz="1600">
                <a:solidFill>
                  <a:srgbClr val="212121"/>
                </a:solidFill>
              </a:defRPr>
            </a:pPr>
          </a:p>
          <a:p>
            <a:pPr>
              <a:defRPr sz="1600">
                <a:solidFill>
                  <a:srgbClr val="212121"/>
                </a:solidFill>
              </a:defRPr>
            </a:pPr>
            <a:r>
              <a:t>  총 방문객: 14.4만명 (여름 8만 + 겨울 6.4만)</a:t>
            </a:r>
          </a:p>
          <a:p>
            <a:pPr>
              <a:defRPr sz="1600">
                <a:solidFill>
                  <a:srgbClr val="212121"/>
                </a:solidFill>
              </a:defRPr>
            </a:pPr>
            <a:r>
              <a:t>  직접 경제효과: 78.4억 원</a:t>
            </a:r>
          </a:p>
          <a:p>
            <a:pPr>
              <a:defRPr sz="1600">
                <a:solidFill>
                  <a:srgbClr val="212121"/>
                </a:solidFill>
              </a:defRPr>
            </a:pPr>
            <a:r>
              <a:t>  간접 경제효과: 117.6억 원</a:t>
            </a:r>
          </a:p>
          <a:p>
            <a:pPr>
              <a:defRPr sz="1600">
                <a:solidFill>
                  <a:srgbClr val="212121"/>
                </a:solidFill>
              </a:defRPr>
            </a:pPr>
            <a:r>
              <a:t>  총 경제효과: 196억 원</a:t>
            </a:r>
          </a:p>
          <a:p>
            <a:pPr>
              <a:defRPr sz="1600">
                <a:solidFill>
                  <a:srgbClr val="212121"/>
                </a:solidFill>
              </a:defRPr>
            </a:pPr>
          </a:p>
          <a:p>
            <a:pPr>
              <a:defRPr sz="1600">
                <a:solidFill>
                  <a:srgbClr val="212121"/>
                </a:solidFill>
              </a:defRPr>
            </a:pPr>
            <a:r>
              <a:t>"2026년을 사계절 365일 설레는 보은 관광의 원년으로!"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